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0693e20f154fc3" /><Relationship Type="http://schemas.openxmlformats.org/officeDocument/2006/relationships/extended-properties" Target="/docProps/app.xml" Id="Rd466c2d4d91745bd" /><Relationship Type="http://schemas.openxmlformats.org/officeDocument/2006/relationships/officeDocument" Target="/ppt/presentation.xml" Id="R9ccf197ea52e4c7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00549a492194933"/>
  </p:sldMasterIdLst>
  <p:notesMasterIdLst>
    <p:notesMasterId xmlns:r="http://schemas.openxmlformats.org/officeDocument/2006/relationships" r:id="Rd3c4f85265d34c9d"/>
  </p:notesMasterIdLst>
  <p:sldIdLst>
    <p:sldId xmlns:r="http://schemas.openxmlformats.org/officeDocument/2006/relationships" id="256" r:id="R2f7c1ecc359b487a"/>
    <p:sldId xmlns:r="http://schemas.openxmlformats.org/officeDocument/2006/relationships" id="257" r:id="R362093f62c15478f"/>
    <p:sldId xmlns:r="http://schemas.openxmlformats.org/officeDocument/2006/relationships" id="258" r:id="Re1ddf13055884b09"/>
    <p:sldId xmlns:r="http://schemas.openxmlformats.org/officeDocument/2006/relationships" id="259" r:id="Rb5717a435b264e67"/>
    <p:sldId xmlns:r="http://schemas.openxmlformats.org/officeDocument/2006/relationships" id="260" r:id="R7c8fce7b3e2244fc"/>
    <p:sldId xmlns:r="http://schemas.openxmlformats.org/officeDocument/2006/relationships" id="261" r:id="R43205bf827154884"/>
    <p:sldId xmlns:r="http://schemas.openxmlformats.org/officeDocument/2006/relationships" id="262" r:id="R2f2adcfe00624c01"/>
    <p:sldId xmlns:r="http://schemas.openxmlformats.org/officeDocument/2006/relationships" id="263" r:id="R6d0cbf704a14493e"/>
    <p:sldId xmlns:r="http://schemas.openxmlformats.org/officeDocument/2006/relationships" id="264" r:id="R120c914f78384026"/>
    <p:sldId xmlns:r="http://schemas.openxmlformats.org/officeDocument/2006/relationships" id="265" r:id="R837c55efde504fcb"/>
  </p:sldIdLst>
  <p:sldSz cx="12192000" cy="6858000"/>
  <p:notesSz cx="6858000" cy="9144000"/>
  <p:embeddedFontLst>
    <p:embeddedFont>
      <p:font typeface="Inter"/>
      <p:regular xmlns:r="http://schemas.openxmlformats.org/officeDocument/2006/relationships" r:id="Rf816401d1335442e"/>
      <p:bold xmlns:r="http://schemas.openxmlformats.org/officeDocument/2006/relationships" r:id="Rf0ca18bfa9f2443a"/>
    </p:embeddedFont>
    <p:embeddedFont>
      <p:font typeface="Inter Medium"/>
      <p:regular xmlns:r="http://schemas.openxmlformats.org/officeDocument/2006/relationships" r:id="Rc3021c74921d4bd3"/>
    </p:embeddedFont>
    <p:embeddedFont>
      <p:font typeface="Inter SemiBold"/>
      <p:regular xmlns:r="http://schemas.openxmlformats.org/officeDocument/2006/relationships" r:id="R8066fdee98a04a47"/>
      <p:bold xmlns:r="http://schemas.openxmlformats.org/officeDocument/2006/relationships" r:id="R5cdde7dc6e524181"/>
    </p:embeddedFont>
    <p:embeddedFont>
      <p:font typeface="OpenAI Sans"/>
      <p:regular xmlns:r="http://schemas.openxmlformats.org/officeDocument/2006/relationships" r:id="R105e185b5c624ffe"/>
      <p:bold xmlns:r="http://schemas.openxmlformats.org/officeDocument/2006/relationships" r:id="R3f05fcee84254468"/>
      <p:italic xmlns:r="http://schemas.openxmlformats.org/officeDocument/2006/relationships" r:id="R6260e83af06d4b9e"/>
      <p:boldItalic xmlns:r="http://schemas.openxmlformats.org/officeDocument/2006/relationships" r:id="Raa481a1c8e024b4f"/>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ed6928132a34efa" /><Relationship Type="http://schemas.openxmlformats.org/officeDocument/2006/relationships/slideMaster" Target="/ppt/slideMasters/slideMaster1.xml" Id="R600549a492194933" /><Relationship Type="http://schemas.openxmlformats.org/officeDocument/2006/relationships/notesMaster" Target="/ppt/notesMasters/notesMaster1.xml" Id="Rd3c4f85265d34c9d" /><Relationship Type="http://schemas.openxmlformats.org/officeDocument/2006/relationships/presProps" Target="/ppt/presProps.xml" Id="Rde492361c56f476d" /><Relationship Type="http://schemas.openxmlformats.org/officeDocument/2006/relationships/viewProps" Target="/ppt/viewProps.xml" Id="R22a3ab2c3f4945ca" /><Relationship Type="http://schemas.openxmlformats.org/officeDocument/2006/relationships/tableStyles" Target="/ppt/tableStyles.xml" Id="R08ae3743fb1b4da5" /><Relationship Type="http://schemas.openxmlformats.org/officeDocument/2006/relationships/font" Target="/ppt/fonts/font.dat" Id="Rf816401d1335442e" /><Relationship Type="http://schemas.openxmlformats.org/officeDocument/2006/relationships/font" Target="/ppt/fonts/font2.dat" Id="Rf0ca18bfa9f2443a" /><Relationship Type="http://schemas.openxmlformats.org/officeDocument/2006/relationships/font" Target="/ppt/fonts/font3.dat" Id="Rc3021c74921d4bd3" /><Relationship Type="http://schemas.openxmlformats.org/officeDocument/2006/relationships/font" Target="/ppt/fonts/font4.dat" Id="R8066fdee98a04a47" /><Relationship Type="http://schemas.openxmlformats.org/officeDocument/2006/relationships/font" Target="/ppt/fonts/font5.dat" Id="R5cdde7dc6e524181" /><Relationship Type="http://schemas.openxmlformats.org/officeDocument/2006/relationships/font" Target="/ppt/fonts/font6.dat" Id="R105e185b5c624ffe" /><Relationship Type="http://schemas.openxmlformats.org/officeDocument/2006/relationships/font" Target="/ppt/fonts/font7.dat" Id="R3f05fcee84254468" /><Relationship Type="http://schemas.openxmlformats.org/officeDocument/2006/relationships/font" Target="/ppt/fonts/font8.dat" Id="R6260e83af06d4b9e" /><Relationship Type="http://schemas.openxmlformats.org/officeDocument/2006/relationships/font" Target="/ppt/fonts/font9.dat" Id="Raa481a1c8e024b4f" /><Relationship Type="http://schemas.openxmlformats.org/officeDocument/2006/relationships/slide" Target="/ppt/slides/slide1.xml" Id="R2f7c1ecc359b487a" /><Relationship Type="http://schemas.openxmlformats.org/officeDocument/2006/relationships/slide" Target="/ppt/slides/slide2.xml" Id="R362093f62c15478f" /><Relationship Type="http://schemas.openxmlformats.org/officeDocument/2006/relationships/slide" Target="/ppt/slides/slide3.xml" Id="Re1ddf13055884b09" /><Relationship Type="http://schemas.openxmlformats.org/officeDocument/2006/relationships/slide" Target="/ppt/slides/slide4.xml" Id="Rb5717a435b264e67" /><Relationship Type="http://schemas.openxmlformats.org/officeDocument/2006/relationships/slide" Target="/ppt/slides/slide5.xml" Id="R7c8fce7b3e2244fc" /><Relationship Type="http://schemas.openxmlformats.org/officeDocument/2006/relationships/slide" Target="/ppt/slides/slide6.xml" Id="R43205bf827154884" /><Relationship Type="http://schemas.openxmlformats.org/officeDocument/2006/relationships/slide" Target="/ppt/slides/slide7.xml" Id="R2f2adcfe00624c01" /><Relationship Type="http://schemas.openxmlformats.org/officeDocument/2006/relationships/slide" Target="/ppt/slides/slide8.xml" Id="R6d0cbf704a14493e" /><Relationship Type="http://schemas.openxmlformats.org/officeDocument/2006/relationships/slide" Target="/ppt/slides/slide9.xml" Id="R120c914f78384026" /><Relationship Type="http://schemas.openxmlformats.org/officeDocument/2006/relationships/slide" Target="/ppt/slides/slide10.xml" Id="R837c55efde504f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e11a57b99340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abb7af65d0403f" /><Relationship Type="http://schemas.openxmlformats.org/officeDocument/2006/relationships/notesMaster" Target="/ppt/notesMasters/notesMaster1.xml" Id="Rfcd1b3af83f64f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aac934c21348d8" /><Relationship Type="http://schemas.openxmlformats.org/officeDocument/2006/relationships/notesMaster" Target="/ppt/notesMasters/notesMaster1.xml" Id="R2bbc3ac7f82b40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2608c93ece42a4" /><Relationship Type="http://schemas.openxmlformats.org/officeDocument/2006/relationships/notesMaster" Target="/ppt/notesMasters/notesMaster1.xml" Id="R592be5618cdb4c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87823bc541410c" /><Relationship Type="http://schemas.openxmlformats.org/officeDocument/2006/relationships/notesMaster" Target="/ppt/notesMasters/notesMaster1.xml" Id="R19f65a7a320940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da18bab21f4b75" /><Relationship Type="http://schemas.openxmlformats.org/officeDocument/2006/relationships/notesMaster" Target="/ppt/notesMasters/notesMaster1.xml" Id="Rc186868431a149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9d1e80401748ca" /><Relationship Type="http://schemas.openxmlformats.org/officeDocument/2006/relationships/notesMaster" Target="/ppt/notesMasters/notesMaster1.xml" Id="R77db999b3e5943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ea8e7e1bab4a85" /><Relationship Type="http://schemas.openxmlformats.org/officeDocument/2006/relationships/notesMaster" Target="/ppt/notesMasters/notesMaster1.xml" Id="R0118be77c8534a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2c6a06dfce464f" /><Relationship Type="http://schemas.openxmlformats.org/officeDocument/2006/relationships/notesMaster" Target="/ppt/notesMasters/notesMaster1.xml" Id="R1b1fe73b345f45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1f3576041c4840" /><Relationship Type="http://schemas.openxmlformats.org/officeDocument/2006/relationships/notesMaster" Target="/ppt/notesMasters/notesMaster1.xml" Id="R8a8075c297124e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aec5719e9346b7" /><Relationship Type="http://schemas.openxmlformats.org/officeDocument/2006/relationships/notesMaster" Target="/ppt/notesMasters/notesMaster1.xml" Id="Rb82c6de5618941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Good morning everyone. We are presenting CartTruth, a final-checkout price verification platform. Our core idea is simple: product pages make a promise, but checkout tells the truth. When a customer sees a product price online, that is not always the final amount they pay. Delivery charges, platform fees, taxes, vouchers, location, and account-specific conditions can all change the final total. CartTruth helps verify that final checkout price safely, without placing an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0:25-1:10</a:t>
            </a:r>
          </a:p>
          <a:p xmlns:a="http://schemas.openxmlformats.org/drawingml/2006/main">
            <a:r>
              <a:t>The problem we are addressing is checkout price uncertainty. For shoppers, it causes frustration. For sellers and support teams, it creates confusion when the product page shows one number but checkout reveals another. That final payable amount is the number customers remember. Baymard research identifies extra costs like shipping, taxes, and fees as a leading checkout abandonment reason. UNCTAD shows the scale of ecommerce itself: business ecommerce sales across 45 economies reached 28 trillion dollars in 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1:10-1:50</a:t>
            </a:r>
          </a:p>
          <a:p xmlns:a="http://schemas.openxmlformats.org/drawingml/2006/main">
            <a:pPr marL="0" indent="0" algn="l">
              <a:spcBef>
                <a:spcPts val="0"/>
              </a:spcBef>
              <a:spcAft>
                <a:spcPts val="0"/>
              </a:spcAft>
              <a:buNone/>
            </a:pPr>
            <a:r>
              <a:t>Today many teams solve this manually. Someone opens the marketplace, logs in, adds the item, checks the total, takes screenshots, and repeats the work. Basic scrapers also fail because they usually stop at the product page. The real price appears inside checkout after account session, delivery region, vouchers, and fees are applied. There is also a network issue: ecommerce systems may react differently to hosted traffic than to a normal shopper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1:50-2:40</a:t>
            </a:r>
          </a:p>
          <a:p xmlns:a="http://schemas.openxmlformats.org/drawingml/2006/main">
            <a:pPr marL="0" indent="0" algn="l">
              <a:spcBef>
                <a:spcPts val="0"/>
              </a:spcBef>
              <a:spcAft>
                <a:spcPts val="0"/>
              </a:spcAft>
              <a:buNone/>
            </a:pPr>
            <a:r>
              <a:t>CartTruth solves this by acting like a careful buyer, but stopping before purchase. The user signs in with Google, saves a Daraz product link, and connects their own Daraz session using an isolated server-side browser. CartTruth then runs a Buy Now checkout check, reads the checkout breakdown, captures evidence, and stops before any order is placed. Our current MVP supports Daraz.lk, but the system is designed around adapters so the model can expand.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2:40-4:40</a:t>
            </a:r>
          </a:p>
          <a:p xmlns:a="http://schemas.openxmlformats.org/drawingml/2006/main">
            <a:pPr marL="0" indent="0" algn="l">
              <a:spcBef>
                <a:spcPts val="0"/>
              </a:spcBef>
              <a:spcAft>
                <a:spcPts val="0"/>
              </a:spcAft>
              <a:buNone/>
            </a:pPr>
            <a:r>
              <a:t>Now I will show the working product. First, this is the CartTruth dashboard where we save Daraz product links. CartTruth reads the product-page price, but that is only the starting point. Next I will show a checkout check. The job opens the Daraz flow using the saved session and returns the run result. Here you can see product price, delivery or platform charges, vouchers if available, and the final total. CartTruth also stores evidence. If the live check takes too long or needs verification, I will open a recent completed run immediately.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4:40-5:30</a:t>
            </a:r>
          </a:p>
          <a:p xmlns:a="http://schemas.openxmlformats.org/drawingml/2006/main">
            <a:r>
              <a:t>What makes CartTruth different from a normal scraper is the safety and evidence layer. It has never-purchase guardrails that block order-finalization and payment-related requests. If Daraz asks for OTP, captcha, login, or manual verification, CartTruth does not bypass it. It marks the job as needing user action. Each run stores screenshots, structured JSON, result history, and redacted artifacts. The output is a verifiable record, not just a scraped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5:30-6:20</a:t>
            </a:r>
          </a:p>
          <a:p xmlns:a="http://schemas.openxmlformats.org/drawingml/2006/main">
            <a:pPr marL="0" indent="0" algn="l">
              <a:spcBef>
                <a:spcPts val="0"/>
              </a:spcBef>
              <a:spcAft>
                <a:spcPts val="0"/>
              </a:spcAft>
              <a:buNone/>
            </a:pPr>
            <a:r>
              <a:t>CartTruth also integrates TorchProxies for more realistic checkout verification. This matters because ecommerce pricing and availability can depend on the shopper's network location. CartTruth can route Daraz browser and checkout traffic through a configured TorchProxies ISP or residential profile, while masking proxy credentials. To be accurate about the MVP, advanced controls like requested country preference, sticky sessions, rotation, and fallback are preview settings and part of the routing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6:20-7:05</a:t>
            </a:r>
          </a:p>
          <a:p xmlns:a="http://schemas.openxmlformats.org/drawingml/2006/main">
            <a:pPr marL="0" indent="0" algn="l">
              <a:spcBef>
                <a:spcPts val="0"/>
              </a:spcBef>
              <a:spcAft>
                <a:spcPts val="0"/>
              </a:spcAft>
              <a:buNone/>
            </a:pPr>
            <a:r>
              <a:t>CartTruth is not only a dashboard. Users can create scoped API keys for REST, MCP, or both. Through the REST API, systems can add links, queue checks, list jobs, read completed runs, and retrieve evidence. Through MCP, AI tools can use CartTruth as a safe checkout verification tool. This matters because AI agents should not freely improvise checkout browser automation.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7:05-7:40</a:t>
            </a:r>
          </a:p>
          <a:p xmlns:a="http://schemas.openxmlformats.org/drawingml/2006/main">
            <a:r>
              <a:t>We are starting with a focused beachhead: Daraz Sri Lanka checkout verification. The next milestones are clear: harden the Daraz workflow, complete advanced proxy routing, improve evidence reports, expand adapters, and run pilots with users who already check prices manually.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7:40-8:00</a:t>
            </a:r>
          </a:p>
          <a:p xmlns:a="http://schemas.openxmlformats.org/drawingml/2006/main">
            <a:r>
              <a:t>Our ask is simple: help us validate CartTruth with users who regularly need to prove final checkout prices. CartTruth gives them one reliable answer to a messy ecommerce question: what is the real price at checkout?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de21a8d4d547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452401722b48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86da3158ae4b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493e8f860440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79098963f443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0df5a6ffd04e3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2c8f346b014455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00c5f2f71d04f1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00f3b9f1ae404f" /><Relationship Type="http://schemas.openxmlformats.org/officeDocument/2006/relationships/slideLayout" Target="/ppt/slideLayouts/slideLayout1.xml" Id="Rd0648f92be634de5" /><Relationship Type="http://schemas.openxmlformats.org/officeDocument/2006/relationships/slideLayout" Target="/ppt/slideLayouts/slideLayout2.xml" Id="R6606d8c401f64c5e" /><Relationship Type="http://schemas.openxmlformats.org/officeDocument/2006/relationships/slideLayout" Target="/ppt/slideLayouts/slideLayout3.xml" Id="R7e68230ed6cf41e2" /><Relationship Type="http://schemas.openxmlformats.org/officeDocument/2006/relationships/slideLayout" Target="/ppt/slideLayouts/slideLayout4.xml" Id="Rbccd0583a1b441d3" /><Relationship Type="http://schemas.openxmlformats.org/officeDocument/2006/relationships/slideLayout" Target="/ppt/slideLayouts/slideLayout5.xml" Id="R77e617b064e5478f" /><Relationship Type="http://schemas.openxmlformats.org/officeDocument/2006/relationships/slideLayout" Target="/ppt/slideLayouts/slideLayout6.xml" Id="R8b67c81ef9f54eb4" /><Relationship Type="http://schemas.openxmlformats.org/officeDocument/2006/relationships/slideLayout" Target="/ppt/slideLayouts/slideLayout7.xml" Id="R7edeeab8375f423f" /><Relationship Type="http://schemas.openxmlformats.org/officeDocument/2006/relationships/slideLayout" Target="/ppt/slideLayouts/slideLayout8.xml" Id="Rb701b03467f44f67"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d0648f92be634de5"/>
    <p:sldLayoutId xmlns:r="http://schemas.openxmlformats.org/officeDocument/2006/relationships" id="2147483650" r:id="R6606d8c401f64c5e"/>
    <p:sldLayoutId xmlns:r="http://schemas.openxmlformats.org/officeDocument/2006/relationships" id="2147483651" r:id="R7e68230ed6cf41e2"/>
    <p:sldLayoutId xmlns:r="http://schemas.openxmlformats.org/officeDocument/2006/relationships" id="2147483652" r:id="Rbccd0583a1b441d3"/>
    <p:sldLayoutId xmlns:r="http://schemas.openxmlformats.org/officeDocument/2006/relationships" id="2147483653" r:id="R77e617b064e5478f"/>
    <p:sldLayoutId xmlns:r="http://schemas.openxmlformats.org/officeDocument/2006/relationships" id="2147483654" r:id="R8b67c81ef9f54eb4"/>
    <p:sldLayoutId xmlns:r="http://schemas.openxmlformats.org/officeDocument/2006/relationships" id="2147483655" r:id="R7edeeab8375f423f"/>
    <p:sldLayoutId xmlns:r="http://schemas.openxmlformats.org/officeDocument/2006/relationships" id="2147483656" r:id="Rb701b03467f44f67"/>
  </p:sldLayoutIdLst>
  <p:hf hdr="0" dt="0"/>
  <p:txStyles>
    <p:titleStyle>
      <a:lvl1pPr xmlns:a="http://schemas.openxmlformats.org/drawingml/2006/main" algn="l">
        <a:lnSpc>
          <a:spcPct val="90000"/>
        </a:lnSpc>
        <a:buNone/>
        <a:defRPr sz="2900" b="0" i="0">
          <a:solidFill>
            <a:schemeClr val="tx1"/>
          </a:solidFill>
          <a:latin typeface="Inter Medium"/>
          <a:ea typeface="Inter Medium"/>
          <a:cs typeface="Inter Medium"/>
        </a:defRPr>
      </a:lvl1pPr>
    </p:titleStyle>
    <p:bodyStyle>
      <a:lvl1pPr xmlns:a="http://schemas.openxmlformats.org/drawingml/2006/main" marL="228600" indent="-228600" algn="l">
        <a:lnSpc>
          <a:spcPct val="90000"/>
        </a:lnSpc>
        <a:spcBef>
          <a:spcPts val="1000"/>
        </a:spcBef>
        <a:buChar char="•"/>
        <a:defRPr sz="24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0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18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b08b2592bb4aec" /><Relationship Type="http://schemas.openxmlformats.org/officeDocument/2006/relationships/notesSlide" Target="/ppt/notesSlides/notesSlide1.xml" Id="R06e5646d58b04d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05bfd362f0449d" /><Relationship Type="http://schemas.openxmlformats.org/officeDocument/2006/relationships/notesSlide" Target="/ppt/notesSlides/notesSlide2.xml" Id="R7f15e8ae06db4f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2938a9cff14fdb" /><Relationship Type="http://schemas.openxmlformats.org/officeDocument/2006/relationships/notesSlide" Target="/ppt/notesSlides/notesSlide3.xml" Id="Rcb8e9397254a4e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5ce7a04fc249dd" /><Relationship Type="http://schemas.openxmlformats.org/officeDocument/2006/relationships/notesSlide" Target="/ppt/notesSlides/notesSlide4.xml" Id="R3a7e339b38b947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4c314fbcc2e4689" /><Relationship Type="http://schemas.openxmlformats.org/officeDocument/2006/relationships/image" Target="/ppt/media/image.png" Id="R23a32ac0e3374eb2" /><Relationship Type="http://schemas.openxmlformats.org/officeDocument/2006/relationships/notesSlide" Target="/ppt/notesSlides/notesSlide5.xml" Id="Rbac6d3ce2ac846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b6752a203641c9" /><Relationship Type="http://schemas.openxmlformats.org/officeDocument/2006/relationships/notesSlide" Target="/ppt/notesSlides/notesSlide6.xml" Id="R529c7546179141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6e725492a64970" /><Relationship Type="http://schemas.openxmlformats.org/officeDocument/2006/relationships/notesSlide" Target="/ppt/notesSlides/notesSlide7.xml" Id="Ra0d18b19d79244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d71408350d94db6" /><Relationship Type="http://schemas.openxmlformats.org/officeDocument/2006/relationships/notesSlide" Target="/ppt/notesSlides/notesSlide8.xml" Id="Rc023309f310c47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bace2da2f04ce1" /><Relationship Type="http://schemas.openxmlformats.org/officeDocument/2006/relationships/notesSlide" Target="/ppt/notesSlides/notesSlide9.xml" Id="R78f72fd7d9a740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a93466376d4d84" /><Relationship Type="http://schemas.openxmlformats.org/officeDocument/2006/relationships/notesSlide" Target="/ppt/notesSlides/notesSlide10.xml" Id="R8fd4ed13cfce4b3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CartTruth</a:t>
            </a:r>
          </a:p>
          <a:p xmlns:a="http://schemas.openxmlformats.org/drawingml/2006/main">
            <a:pPr algn="ctr">
              <a:buNone/>
            </a:pPr>
            <a:r>
              <a:rPr sz="7200">
                <a:solidFill>
                  <a:srgbClr val="BCEF59"/>
                </a:solidFill>
              </a:rPr>
              <a:t>Pitch</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Final-checkout price verification for Daraz and beyond.</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8-minute pitch</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CBAEABBA-AD62-52D1-5588-17C604158753}" type="slidenum">
              <a:t>02</a:t>
            </a:fld>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Checkout is where price trust breaks</a:t>
            </a: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fontScale="81510"/>
          </a:bodyPr>
          <a:lstStyle xmlns:a="http://schemas.openxmlformats.org/drawingml/2006/main"/>
          <a:p xmlns:a="http://schemas.openxmlformats.org/drawingml/2006/main">
            <a:pPr marL="0" indent="0" algn="l">
              <a:lnSpc>
                <a:spcPct val="100000"/>
              </a:lnSpc>
              <a:spcBef>
                <a:spcPts val="1300"/>
              </a:spcBef>
              <a:spcAft>
                <a:spcPts val="1300"/>
              </a:spcAft>
              <a:buNone/>
            </a:pPr>
            <a:r>
              <a:rPr sz="1600" b="0" i="0" u="none" cap="none">
                <a:ln>
                  <a:noFill/>
                </a:ln>
                <a:latin typeface="Helvetica Neue"/>
                <a:ea typeface="Helvetica Neue"/>
                <a:cs typeface="Helvetica Neue"/>
              </a:rPr>
              <a:t>abandon when extra shipping, tax, or fees are too high. Baymard.</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fontScale="81510"/>
          </a:bodyPr>
          <a:lstStyle xmlns:a="http://schemas.openxmlformats.org/drawingml/2006/main"/>
          <a:p xmlns:a="http://schemas.openxmlformats.org/drawingml/2006/main">
            <a:pPr marL="0" indent="0" algn="l">
              <a:lnSpc>
                <a:spcPct val="100000"/>
              </a:lnSpc>
              <a:spcBef>
                <a:spcPts val="1300"/>
              </a:spcBef>
              <a:spcAft>
                <a:spcPts val="1300"/>
              </a:spcAft>
              <a:buNone/>
            </a:pPr>
            <a:r>
              <a:rPr sz="1600" b="0" i="0" u="none" cap="none">
                <a:ln>
                  <a:noFill/>
                </a:ln>
                <a:latin typeface="Helvetica Neue"/>
                <a:ea typeface="Helvetica Neue"/>
                <a:cs typeface="Helvetica Neue"/>
              </a:rPr>
              <a:t>source of truth: the final payable checkout total.</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fontScale="81510"/>
          </a:bodyPr>
          <a:lstStyle xmlns:a="http://schemas.openxmlformats.org/drawingml/2006/main"/>
          <a:p xmlns:a="http://schemas.openxmlformats.org/drawingml/2006/main">
            <a:pPr marL="0" indent="0" algn="l">
              <a:lnSpc>
                <a:spcPct val="100000"/>
              </a:lnSpc>
              <a:spcBef>
                <a:spcPts val="1300"/>
              </a:spcBef>
              <a:spcAft>
                <a:spcPts val="1300"/>
              </a:spcAft>
              <a:buNone/>
            </a:pPr>
            <a:r>
              <a:rPr sz="1600" b="0" i="0" u="none" cap="none">
                <a:ln>
                  <a:noFill/>
                </a:ln>
                <a:latin typeface="Helvetica Neue"/>
                <a:ea typeface="Helvetica Neue"/>
                <a:cs typeface="Helvetica Neue"/>
              </a:rPr>
              <a:t>business ecommerce sales across 45 economies in 2024. UNCTAD.</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7000" b="0" i="0" u="none" cap="none">
                <a:ln>
                  <a:noFill/>
                </a:ln>
                <a:solidFill>
                  <a:srgbClr val="BCEF59"/>
                </a:solidFill>
                <a:latin typeface="Helvetica Neue"/>
                <a:ea typeface="Helvetica Neue"/>
                <a:cs typeface="Helvetica Neue"/>
              </a:rPr>
              <a:t>39%</a:t>
            </a:r>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7000" b="0" i="0" u="none" cap="none">
                <a:ln>
                  <a:noFill/>
                </a:ln>
                <a:solidFill>
                  <a:srgbClr val="BCEF59"/>
                </a:solidFill>
                <a:latin typeface="Helvetica Neue"/>
                <a:ea typeface="Helvetica Neue"/>
                <a:cs typeface="Helvetica Neue"/>
              </a:rPr>
              <a:t>$28T</a:t>
            </a:r>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7000" b="0" i="0" u="none" cap="none">
                <a:ln>
                  <a:noFill/>
                </a:ln>
                <a:solidFill>
                  <a:srgbClr val="BCEF59"/>
                </a:solidFill>
                <a:latin typeface="Helvetica Neue"/>
                <a:ea typeface="Helvetica Neue"/>
                <a:cs typeface="Helvetica Neue"/>
              </a:rPr>
              <a:t>1</a:t>
            </a:r>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spcAft>
                <a:spcPts val="800"/>
              </a:spcAft>
              <a:buNone/>
              <a:defRPr sz="1600">
                <a:solidFill>
                  <a:schemeClr val="tx1"/>
                </a:solidFill>
                <a:latin typeface="+mn-lt"/>
                <a:ea typeface="+mn-lt"/>
                <a:cs typeface="+mn-lt"/>
              </a:defRPr>
            </a:lvl1pPr>
            <a:lvl2pPr marL="457200" indent="0" algn="l">
              <a:lnSpc>
                <a:spcPct val="90000"/>
              </a:lnSpc>
              <a:spcBef>
                <a:spcPts val="500"/>
              </a:spcBef>
              <a:spcAft>
                <a:spcPts val="800"/>
              </a:spcAft>
              <a:buNone/>
              <a:defRPr sz="1600">
                <a:solidFill>
                  <a:schemeClr val="tx1"/>
                </a:solidFill>
                <a:latin typeface="+mn-lt"/>
                <a:ea typeface="+mn-lt"/>
                <a:cs typeface="+mn-lt"/>
              </a:defRPr>
            </a:lvl2pPr>
            <a:lvl3pPr marL="914400" indent="0" algn="l">
              <a:lnSpc>
                <a:spcPct val="90000"/>
              </a:lnSpc>
              <a:spcBef>
                <a:spcPts val="500"/>
              </a:spcBef>
              <a:spcAft>
                <a:spcPts val="800"/>
              </a:spcAft>
              <a:buNone/>
              <a:defRPr sz="1600">
                <a:solidFill>
                  <a:schemeClr val="tx1"/>
                </a:solidFill>
                <a:latin typeface="+mn-lt"/>
                <a:ea typeface="+mn-lt"/>
                <a:cs typeface="+mn-lt"/>
              </a:defRPr>
            </a:lvl3pPr>
            <a:lvl4pPr marL="1371600" indent="0" algn="l">
              <a:lnSpc>
                <a:spcPct val="90000"/>
              </a:lnSpc>
              <a:spcBef>
                <a:spcPts val="500"/>
              </a:spcBef>
              <a:spcAft>
                <a:spcPts val="800"/>
              </a:spcAft>
              <a:buNone/>
              <a:defRPr sz="1600">
                <a:solidFill>
                  <a:schemeClr val="tx1"/>
                </a:solidFill>
                <a:latin typeface="+mn-lt"/>
                <a:ea typeface="+mn-lt"/>
                <a:cs typeface="+mn-lt"/>
              </a:defRPr>
            </a:lvl4pPr>
            <a:lvl5pPr marL="1828800" indent="0" algn="l">
              <a:lnSpc>
                <a:spcPct val="90000"/>
              </a:lnSpc>
              <a:spcBef>
                <a:spcPts val="500"/>
              </a:spcBef>
              <a:spcAft>
                <a:spcPts val="800"/>
              </a:spcAft>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Helvetica Neue Medium"/>
                <a:ea typeface="Helvetica Neue Medium"/>
                <a:cs typeface="Helvetica Neue Medium"/>
              </a:rPr>
              <a:t>Product pages show the promise. Checkout reveals the final payable total; that is where trust, disputes, and abandonment happen.</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CartTruth pitch</a:t>
            </a:r>
          </a:p>
        </p:txBody>
      </p:sp>
    </p:spTree>
    <p:extLst>
      <p:ext uri="{BB962C8B-B14F-4D97-AF65-F5344CB8AC3E}">
        <p14:creationId xmlns:p14="http://schemas.microsoft.com/office/powerpoint/2010/main" val="236961682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CartTruth pitch</a:t>
            </a: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BADEEDC-EEE1-8597-0639-A35D9BA153EC}" type="slidenum">
              <a:t>03</a:t>
            </a:fld>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Manual checks and product-page scrapers miss the real price</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Inter SemiBold"/>
                <a:ea typeface="Inter SemiBold"/>
                <a:cs typeface="Inter SemiBold"/>
              </a:rPr>
              <a:t>Slow and inconsistent</a:t>
            </a:r>
          </a:p>
          <a:p xmlns:a="http://schemas.openxmlformats.org/drawingml/2006/main">
            <a:pPr marL="0" indent="0">
              <a:lnSpc>
                <a:spcPct val="114000"/>
              </a:lnSpc>
              <a:spcBef>
                <a:spcPts val="0"/>
              </a:spcBef>
              <a:spcAft>
                <a:spcPts val="800"/>
              </a:spcAft>
              <a:buNone/>
            </a:pPr>
            <a:r>
              <a:rPr sz="1800">
                <a:latin typeface="Inter"/>
                <a:ea typeface="Inter"/>
                <a:cs typeface="Inter"/>
              </a:rPr>
              <a:t>People open the site, log in, add products, check totals, take screenshots, and repeat it across items.</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Inter SemiBold"/>
                <a:ea typeface="Inter SemiBold"/>
                <a:cs typeface="Inter SemiBold"/>
              </a:rPr>
              <a:t>Wrong viewpoint</a:t>
            </a:r>
          </a:p>
          <a:p xmlns:a="http://schemas.openxmlformats.org/drawingml/2006/main">
            <a:pPr marL="0" indent="0" algn="l">
              <a:lnSpc>
                <a:spcPct val="114000"/>
              </a:lnSpc>
              <a:spcBef>
                <a:spcPts val="0"/>
              </a:spcBef>
              <a:spcAft>
                <a:spcPts val="800"/>
              </a:spcAft>
              <a:buNone/>
            </a:pPr>
            <a:r>
              <a:rPr sz="1800" b="0" i="0" u="none" cap="none">
                <a:ln>
                  <a:noFill/>
                </a:ln>
                <a:latin typeface="Inter"/>
                <a:ea typeface="Inter"/>
                <a:cs typeface="Inter"/>
              </a:rPr>
              <a:t>Hosted server traffic can be blocked, incomplete, or different from what a real shopper sees locally.</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Inter SemiBold"/>
                <a:ea typeface="Inter SemiBold"/>
                <a:cs typeface="Inter SemiBold"/>
              </a:rPr>
              <a:t>Stops too early</a:t>
            </a:r>
          </a:p>
          <a:p xmlns:a="http://schemas.openxmlformats.org/drawingml/2006/main">
            <a:pPr marL="0" indent="0" algn="l">
              <a:lnSpc>
                <a:spcPct val="114000"/>
              </a:lnSpc>
              <a:spcBef>
                <a:spcPts val="0"/>
              </a:spcBef>
              <a:spcAft>
                <a:spcPts val="800"/>
              </a:spcAft>
              <a:buNone/>
            </a:pPr>
            <a:r>
              <a:rPr sz="1800" b="0" i="0" u="none" cap="none">
                <a:ln>
                  <a:noFill/>
                </a:ln>
                <a:latin typeface="Inter"/>
                <a:ea typeface="Inter"/>
                <a:cs typeface="Inter"/>
              </a:rPr>
              <a:t>Catalog scrapers see product-page prices, but not delivery, fees, vouchers, session state, or checkout rules.</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Manual</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Scrapers</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Network</a:t>
            </a:r>
          </a:p>
        </p:txBody>
      </p:sp>
    </p:spTree>
    <p:extLst>
      <p:ext uri="{BB962C8B-B14F-4D97-AF65-F5344CB8AC3E}">
        <p14:creationId xmlns:p14="http://schemas.microsoft.com/office/powerpoint/2010/main" val="13934569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CartTruth pitch</a:t>
            </a: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F9970F6C-59B2-055B-5132-2DC31A7003A7}" type="slidenum">
              <a:t>04</a:t>
            </a:fld>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CartTruth acts like a careful buyer, then stops</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65104"/>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t>The user saves a Daraz product URL and CartTruth reads the observed product-page price.</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solidFill>
                  <a:srgbClr val="BCEF59"/>
                </a:solidFill>
                <a:latin typeface="Inter Medium"/>
                <a:ea typeface="Inter Medium"/>
                <a:cs typeface="Inter Medium"/>
              </a:rPr>
              <a:t>Save link</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65294"/>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t>An isolated browser profile lets checkout see the user's own Daraz account state.</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solidFill>
                  <a:srgbClr val="BCEF59"/>
                </a:solidFill>
                <a:latin typeface="Inter Medium"/>
                <a:ea typeface="Inter Medium"/>
                <a:cs typeface="Inter Medium"/>
              </a:rPr>
              <a:t>Use session</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65351"/>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t>Playwright opens checkout, extracts line price, delivery, fees, vouchers, and total.</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solidFill>
                  <a:srgbClr val="BCEF59"/>
                </a:solidFill>
                <a:latin typeface="Inter Medium"/>
                <a:ea typeface="Inter Medium"/>
                <a:cs typeface="Inter Medium"/>
              </a:rPr>
              <a:t>Read checkout</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72598"/>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t>Runs store screenshots, JSON results, status, and evidence artifact links.</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solidFill>
                  <a:srgbClr val="BCEF59"/>
                </a:solidFill>
                <a:latin typeface="Inter Medium"/>
                <a:ea typeface="Inter Medium"/>
                <a:cs typeface="Inter Medium"/>
              </a:rPr>
              <a:t>Keep proof</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Inter Medium"/>
                <a:ea typeface="Inter Medium"/>
                <a:cs typeface="Inter Medium"/>
              </a:rPr>
              <a:t>A user-directed checkout verifier for Daraz.lk: save a link, use an isolated session, run a Buy Now check, compare product-page price with checkout total, and keep evidence.</a:t>
            </a:r>
          </a:p>
        </p:txBody>
      </p:sp>
    </p:spTree>
    <p:extLst>
      <p:ext uri="{BB962C8B-B14F-4D97-AF65-F5344CB8AC3E}">
        <p14:creationId xmlns:p14="http://schemas.microsoft.com/office/powerpoint/2010/main" val="6761169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CartTruth pitch</a:t>
            </a: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5370F4AC-E6D1-01EE-6732-05F7C8E78B55}" type="slidenum">
              <a:t>05</a:t>
            </a:fld>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Demo: verify checkout safely</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23a32ac0e3374eb2"/>
          <a:srcRect xmlns:a="http://schemas.openxmlformats.org/drawingml/2006/main" l="5428" t="29168" r="0" b="23013"/>
          <a:stretch xmlns:a="http://schemas.openxmlformats.org/drawingml/2006/main">
            <a:fillRect l="0" t="0" r="0" b="0"/>
          </a:stretch>
        </p:blipFill>
        <p:spPr>
          <a:xfrm xmlns:a="http://schemas.openxmlformats.org/drawingml/2006/main" flipH="0" flipV="0">
            <a:off x="6269040" y="396409"/>
            <a:ext cx="5539740" cy="5602070"/>
          </a:xfrm>
          <a:prstGeom xmlns:a="http://schemas.openxmlformats.org/drawingml/2006/main" prst="roundRect">
            <a:avLst/>
          </a:prstGeom>
        </p:spPr>
      </p:pic>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latin typeface="Inter"/>
                <a:ea typeface="Inter"/>
                <a:cs typeface="Inter"/>
              </a:rPr>
              <a:t>Show the live path</a:t>
            </a:r>
          </a:p>
          <a:p xmlns:a="http://schemas.openxmlformats.org/drawingml/2006/main">
            <a:pPr marL="0" indent="0">
              <a:lnSpc>
                <a:spcPct val="114000"/>
              </a:lnSpc>
              <a:spcBef>
                <a:spcPts val="0"/>
              </a:spcBef>
              <a:spcAft>
                <a:spcPts val="800"/>
              </a:spcAft>
              <a:buNone/>
            </a:pPr>
            <a:r>
              <a:rPr sz="1700">
                <a:latin typeface="Inter"/>
                <a:ea typeface="Inter"/>
                <a:cs typeface="Inter"/>
              </a:rPr>
              <a:t>Dashboard -&gt; saved product -&gt; queued check -&gt; checkout breakdown -&gt; evidence artifact.</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latin typeface="Inter"/>
                <a:ea typeface="Inter"/>
                <a:cs typeface="Inter"/>
              </a:rPr>
              <a:t>Backup if the live flow stalls</a:t>
            </a:r>
          </a:p>
          <a:p xmlns:a="http://schemas.openxmlformats.org/drawingml/2006/main">
            <a:pPr marL="0" indent="0">
              <a:lnSpc>
                <a:spcPct val="114000"/>
              </a:lnSpc>
              <a:spcBef>
                <a:spcPts val="0"/>
              </a:spcBef>
              <a:spcAft>
                <a:spcPts val="800"/>
              </a:spcAft>
              <a:buNone/>
            </a:pPr>
            <a:r>
              <a:rPr sz="1700">
                <a:latin typeface="Inter"/>
                <a:ea typeface="Inter"/>
                <a:cs typeface="Inter"/>
              </a:rPr>
              <a:t>Open a recent completed run while the new checkout job continues in the background.</a:t>
            </a:r>
          </a:p>
        </p:txBody>
      </p:sp>
    </p:spTree>
    <p:extLst>
      <p:ext uri="{BB962C8B-B14F-4D97-AF65-F5344CB8AC3E}">
        <p14:creationId xmlns:p14="http://schemas.microsoft.com/office/powerpoint/2010/main" val="32456707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CartTruth pitch</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39BFB0FA-5DC7-50DB-D53A-0B6D0E34987E}" type="slidenum">
              <a:t>06</a:t>
            </a:fld>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Safety and evidence make the result usable</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indent="0">
              <a:lnSpc>
                <a:spcPct val="114000"/>
              </a:lnSpc>
              <a:spcBef>
                <a:spcPts val="0"/>
              </a:spcBef>
              <a:spcAft>
                <a:spcPts val="800"/>
              </a:spcAft>
              <a:buNone/>
            </a:pPr>
            <a:r>
              <a:rPr>
                <a:solidFill>
                  <a:srgbClr val="BCEF59"/>
                </a:solidFill>
              </a:rPr>
              <a:t>Never purchase</a:t>
            </a:r>
          </a:p>
          <a:p xmlns:a="http://schemas.openxmlformats.org/drawingml/2006/main">
            <a:pPr marL="0" indent="0" algn="l">
              <a:lnSpc>
                <a:spcPct val="100000"/>
              </a:lnSpc>
              <a:spcBef>
                <a:spcPts val="1300"/>
              </a:spcBef>
              <a:spcAft>
                <a:spcPts val="1300"/>
              </a:spcAft>
              <a:buNone/>
            </a:pPr>
            <a:r>
              <a:rPr sz="1800" b="0" i="0" u="none" cap="none">
                <a:ln>
                  <a:noFill/>
                </a:ln>
              </a:rPr>
              <a:t>Network guards block order or payment finalization; unsafe purchase labels are refused.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indent="0">
              <a:lnSpc>
                <a:spcPct val="114000"/>
              </a:lnSpc>
              <a:spcBef>
                <a:spcPts val="0"/>
              </a:spcBef>
              <a:spcAft>
                <a:spcPts val="800"/>
              </a:spcAft>
              <a:buNone/>
            </a:pPr>
            <a:r>
              <a:rPr>
                <a:solidFill>
                  <a:srgbClr val="BCEF59"/>
                </a:solidFill>
              </a:rPr>
              <a:t>Human verification</a:t>
            </a:r>
          </a:p>
          <a:p xmlns:a="http://schemas.openxmlformats.org/drawingml/2006/main">
            <a:pPr marL="0" indent="0" algn="l">
              <a:lnSpc>
                <a:spcPct val="100000"/>
              </a:lnSpc>
              <a:spcBef>
                <a:spcPts val="1300"/>
              </a:spcBef>
              <a:spcAft>
                <a:spcPts val="1300"/>
              </a:spcAft>
              <a:buNone/>
            </a:pPr>
            <a:r>
              <a:rPr sz="1800" b="0" i="0" u="none" cap="none">
                <a:ln>
                  <a:noFill/>
                </a:ln>
              </a:rPr>
              <a:t>OTP, captcha, login, and verification become explicit needs_user_action states.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Evidence trail</a:t>
            </a:r>
          </a:p>
          <a:p xmlns:a="http://schemas.openxmlformats.org/drawingml/2006/main">
            <a:pPr marL="0" indent="0">
              <a:lnSpc>
                <a:spcPct val="100000"/>
              </a:lnSpc>
              <a:spcBef>
                <a:spcPts val="1300"/>
              </a:spcBef>
              <a:spcAft>
                <a:spcPts val="1300"/>
              </a:spcAft>
              <a:buNone/>
            </a:pPr>
            <a:r>
              <a:rPr sz="1800"/>
              <a:t>Each run stores screenshots, structured JSON, result history, and artifact links.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Secret handling</a:t>
            </a:r>
          </a:p>
          <a:p xmlns:a="http://schemas.openxmlformats.org/drawingml/2006/main">
            <a:pPr marL="0" indent="0">
              <a:lnSpc>
                <a:spcPct val="100000"/>
              </a:lnSpc>
              <a:spcBef>
                <a:spcPts val="1300"/>
              </a:spcBef>
              <a:spcAft>
                <a:spcPts val="1300"/>
              </a:spcAft>
              <a:buNone/>
            </a:pPr>
            <a:r>
              <a:rPr sz="1800"/>
              <a:t>API keys, cookies, passwords, proxy credentials, and session tokens are masked, hashed, or encrypted.</a:t>
            </a:r>
          </a:p>
        </p:txBody>
      </p:sp>
    </p:spTree>
    <p:extLst>
      <p:ext uri="{BB962C8B-B14F-4D97-AF65-F5344CB8AC3E}">
        <p14:creationId xmlns:p14="http://schemas.microsoft.com/office/powerpoint/2010/main" val="360145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CartTruth pitch</a:t>
            </a: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C1C5B3A8-B30B-D205-8921-516C108AB9AB}" type="slidenum">
              <a:t>07</a:t>
            </a:fld>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TorchProxies gives checkout checks a real-shopper route</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Inter SemiBold"/>
                <a:ea typeface="Inter SemiBold"/>
                <a:cs typeface="Inter SemiBold"/>
              </a:rPr>
              <a:t>Why it matters</a:t>
            </a:r>
          </a:p>
          <a:p xmlns:a="http://schemas.openxmlformats.org/drawingml/2006/main">
            <a:pPr marL="0" indent="0">
              <a:lnSpc>
                <a:spcPct val="114000"/>
              </a:lnSpc>
              <a:spcBef>
                <a:spcPts val="0"/>
              </a:spcBef>
              <a:spcAft>
                <a:spcPts val="800"/>
              </a:spcAft>
              <a:buNone/>
            </a:pPr>
            <a:r>
              <a:rPr sz="1800">
                <a:latin typeface="Inter"/>
                <a:ea typeface="Inter"/>
                <a:cs typeface="Inter"/>
              </a:rPr>
              <a:t>Checkout totals can vary by IP region, account session, delivery location, and promotion rules.</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Inter SemiBold"/>
                <a:ea typeface="Inter SemiBold"/>
                <a:cs typeface="Inter SemiBold"/>
              </a:rPr>
              <a:t>Next controls</a:t>
            </a:r>
          </a:p>
          <a:p xmlns:a="http://schemas.openxmlformats.org/drawingml/2006/main">
            <a:pPr marL="0" indent="0" algn="l">
              <a:lnSpc>
                <a:spcPct val="114000"/>
              </a:lnSpc>
              <a:spcBef>
                <a:spcPts val="0"/>
              </a:spcBef>
              <a:spcAft>
                <a:spcPts val="800"/>
              </a:spcAft>
              <a:buNone/>
            </a:pPr>
            <a:r>
              <a:rPr sz="1800" b="0" i="0" u="none" cap="none">
                <a:ln>
                  <a:noFill/>
                </a:ln>
                <a:latin typeface="Inter"/>
                <a:ea typeface="Inter"/>
                <a:cs typeface="Inter"/>
              </a:rPr>
              <a:t>Country preference, sticky sessions, rotation, and fallback controls are preview settings until routing support lands.</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Inter SemiBold"/>
                <a:ea typeface="Inter SemiBold"/>
                <a:cs typeface="Inter SemiBold"/>
              </a:rPr>
              <a:t>Supported now</a:t>
            </a:r>
          </a:p>
          <a:p xmlns:a="http://schemas.openxmlformats.org/drawingml/2006/main">
            <a:pPr marL="0" indent="0" algn="l">
              <a:lnSpc>
                <a:spcPct val="114000"/>
              </a:lnSpc>
              <a:spcBef>
                <a:spcPts val="0"/>
              </a:spcBef>
              <a:spcAft>
                <a:spcPts val="800"/>
              </a:spcAft>
              <a:buNone/>
            </a:pPr>
            <a:r>
              <a:rPr sz="1800" b="0" i="0" u="none" cap="none">
                <a:ln>
                  <a:noFill/>
                </a:ln>
                <a:latin typeface="Inter"/>
                <a:ea typeface="Inter"/>
                <a:cs typeface="Inter"/>
              </a:rPr>
              <a:t>CartTruth can use a configured TorchProxies ISP or residential profile, with masked credentials and telemetry.</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Accuracy</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MVP today</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Roadmap</a:t>
            </a:r>
          </a:p>
        </p:txBody>
      </p:sp>
    </p:spTree>
    <p:extLst>
      <p:ext uri="{BB962C8B-B14F-4D97-AF65-F5344CB8AC3E}">
        <p14:creationId xmlns:p14="http://schemas.microsoft.com/office/powerpoint/2010/main" val="139345699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CartTruth pitch</a:t>
            </a: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2E54B70-3376-18BE-56BD-5BB8BA701776}" type="slidenum">
              <a:t>08</a:t>
            </a:fld>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REST and MCP turn CartTruth into infrastructure</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0388" y="179792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t>One verifier, three surfaces</a:t>
            </a: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0388" y="3065806"/>
            <a:ext cx="4774279" cy="206088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lnSpc>
                <a:spcPct val="114000"/>
              </a:lnSpc>
              <a:spcBef>
                <a:spcPts val="0"/>
              </a:spcBef>
              <a:spcAft>
                <a:spcPts val="800"/>
              </a:spcAft>
              <a:buNone/>
            </a:pPr>
            <a:r>
              <a:rPr sz="1700" b="0" i="0" u="none" cap="none">
                <a:ln>
                  <a:noFill/>
                </a:ln>
              </a:rPr>
              <a:t>Dashboard for humans. REST for systems. MCP for AI agents that need safe checkout evidence without controlling payments or credentials.</a:t>
            </a:r>
          </a:p>
        </p:txBody>
      </p:sp>
      <p:sp>
        <p:nvSpPr>
          <p:cNvPr id="5" name="Rounded Rectangle 4">
            <a:extLst xmlns:a="http://schemas.openxmlformats.org/drawingml/2006/main">
              <a:ext uri="{FF2B5EF4-FFF2-40B4-BE49-F238E27FC236}">
                <a16:creationId xmlns:a16="http://schemas.microsoft.com/office/drawing/2014/main" id="{1D611070-583D-3F58-C192-8939D876E8A5}"/>
              </a:ext>
            </a:extLst>
          </p:cNvPr>
          <p:cNvSpPr>
            <a:spLocks xmlns:a="http://schemas.openxmlformats.org/drawingml/2006/main" noGrp="1"/>
          </p:cNvSpPr>
          <p:nvPr/>
        </p:nvSpPr>
        <p:spPr>
          <a:xfrm xmlns:a="http://schemas.openxmlformats.org/drawingml/2006/main">
            <a:off x="6264413" y="172243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tent Placeholder 10">
            <a:extLst xmlns:a="http://schemas.openxmlformats.org/drawingml/2006/main">
              <a:ext uri="{FF2B5EF4-FFF2-40B4-BE49-F238E27FC236}">
                <a16:creationId xmlns:a16="http://schemas.microsoft.com/office/drawing/2014/main" id="{176A6DA9-A945-2CB8-E1DA-17DA3035FD4C}"/>
              </a:ext>
            </a:extLst>
          </p:cNvPr>
          <p:cNvSpPr>
            <a:spLocks xmlns:a="http://schemas.openxmlformats.org/drawingml/2006/main" noGrp="1"/>
          </p:cNvSpPr>
          <p:nvPr/>
        </p:nvSpPr>
        <p:spPr>
          <a:xfrm xmlns:a="http://schemas.openxmlformats.org/drawingml/2006/main">
            <a:off x="6561648" y="2017370"/>
            <a:ext cx="4986886" cy="1048436"/>
          </a:xfrm>
          <a:prstGeom xmlns:a="http://schemas.openxmlformats.org/drawingml/2006/main" prst="rect">
            <a:avLst/>
          </a:prstGeom>
        </p:spPr>
        <p:txBody>
          <a:bodyPr xmlns:a="http://schemas.openxmlformats.org/drawingml/2006/main" vert="horz" lIns="0" tIns="0" rIns="0" bIns="0">
            <a:normAutofit fontScale="84459" lnSpcReduction="2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800"/>
              <a:t>REST API</a:t>
            </a:r>
          </a:p>
          <a:p xmlns:a="http://schemas.openxmlformats.org/drawingml/2006/main">
            <a:pPr marL="0" indent="0">
              <a:lnSpc>
                <a:spcPct val="100000"/>
              </a:lnSpc>
              <a:spcBef>
                <a:spcPts val="1300"/>
              </a:spcBef>
              <a:spcAft>
                <a:spcPts val="1300"/>
              </a:spcAft>
              <a:buNone/>
            </a:pPr>
            <a:r>
              <a:rPr sz="1800"/>
              <a:t>Save links, queue jobs, poll status, read runs, and fetch evidence artifacts with scoped ct_ API keys.</a:t>
            </a:r>
          </a:p>
        </p:txBody>
      </p:sp>
      <p:sp>
        <p:nvSpPr>
          <p:cNvPr id="7" name="Rounded Rectangle 6">
            <a:extLst xmlns:a="http://schemas.openxmlformats.org/drawingml/2006/main">
              <a:ext uri="{FF2B5EF4-FFF2-40B4-BE49-F238E27FC236}">
                <a16:creationId xmlns:a16="http://schemas.microsoft.com/office/drawing/2014/main" id="{7A99370F-1C2A-C7A9-A2D7-8EC8D6F73423}"/>
              </a:ext>
            </a:extLst>
          </p:cNvPr>
          <p:cNvSpPr>
            <a:spLocks xmlns:a="http://schemas.openxmlformats.org/drawingml/2006/main" noGrp="1"/>
          </p:cNvSpPr>
          <p:nvPr/>
        </p:nvSpPr>
        <p:spPr>
          <a:xfrm xmlns:a="http://schemas.openxmlformats.org/drawingml/2006/main">
            <a:off x="6264413" y="373411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Content Placeholder 10">
            <a:extLst xmlns:a="http://schemas.openxmlformats.org/drawingml/2006/main">
              <a:ext uri="{FF2B5EF4-FFF2-40B4-BE49-F238E27FC236}">
                <a16:creationId xmlns:a16="http://schemas.microsoft.com/office/drawing/2014/main" id="{5BB779E3-29A4-71DB-4059-EE4248BE7003}"/>
              </a:ext>
            </a:extLst>
          </p:cNvPr>
          <p:cNvSpPr>
            <a:spLocks xmlns:a="http://schemas.openxmlformats.org/drawingml/2006/main" noGrp="1"/>
          </p:cNvSpPr>
          <p:nvPr/>
        </p:nvSpPr>
        <p:spPr>
          <a:xfrm xmlns:a="http://schemas.openxmlformats.org/drawingml/2006/main">
            <a:off x="6561648" y="4029050"/>
            <a:ext cx="4986886" cy="1048436"/>
          </a:xfrm>
          <a:prstGeom xmlns:a="http://schemas.openxmlformats.org/drawingml/2006/main" prst="rect">
            <a:avLst/>
          </a:prstGeom>
        </p:spPr>
        <p:txBody>
          <a:bodyPr xmlns:a="http://schemas.openxmlformats.org/drawingml/2006/main" vert="horz" lIns="0" tIns="0" rIns="0" bIns="0">
            <a:normAutofit fontScale="82952" lnSpcReduction="2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800"/>
              <a:t>MCP server</a:t>
            </a:r>
          </a:p>
          <a:p xmlns:a="http://schemas.openxmlformats.org/drawingml/2006/main">
            <a:pPr marL="0" indent="0">
              <a:lnSpc>
                <a:spcPct val="100000"/>
              </a:lnSpc>
              <a:spcBef>
                <a:spcPts val="1300"/>
              </a:spcBef>
              <a:spcAft>
                <a:spcPts val="1300"/>
              </a:spcAft>
              <a:buNone/>
            </a:pPr>
            <a:r>
              <a:rPr sz="1800"/>
              <a:t>Agents can list links, queue checks, and read run evidence, but cannot save credentials or drive the browser.</a:t>
            </a:r>
          </a:p>
        </p:txBody>
      </p:sp>
    </p:spTree>
    <p:extLst>
      <p:ext uri="{BB962C8B-B14F-4D97-AF65-F5344CB8AC3E}">
        <p14:creationId xmlns:p14="http://schemas.microsoft.com/office/powerpoint/2010/main" val="33318791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 name="Rounded Rectangle 11">
            <a:extLst xmlns:a="http://schemas.openxmlformats.org/drawingml/2006/main">
              <a:ext uri="{FF2B5EF4-FFF2-40B4-BE49-F238E27FC236}">
                <a16:creationId xmlns:a16="http://schemas.microsoft.com/office/drawing/2014/main" id="{86FC0B29-995A-397B-C2F3-07F01F976246}"/>
              </a:ext>
            </a:extLst>
          </p:cNvPr>
          <p:cNvSpPr>
            <a:spLocks xmlns:a="http://schemas.openxmlformats.org/drawingml/2006/main" noGrp="1"/>
          </p:cNvSpPr>
          <p:nvPr/>
        </p:nvSpPr>
        <p:spPr>
          <a:xfrm xmlns:a="http://schemas.openxmlformats.org/drawingml/2006/main">
            <a:off x="7833152" y="2134181"/>
            <a:ext cx="3568700" cy="3709944"/>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CartTruth pitch</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44235D47-801C-AA1F-E2A0-5E98061CBF6D}" type="slidenum">
              <a:t>09</a:t>
            </a:fld>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The roadmap turns the MVP into a pilotable platform</a:t>
            </a:r>
          </a:p>
        </p:txBody>
      </p:sp>
      <p:cxnSp>
        <p:nvCxnSpPr>
          <p:cNvPr id="29"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12700" cap="flat">
            <a:solidFill>
              <a:srgbClr val="BCEF59"/>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Now</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Next</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Pilot</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t>Deepen routing</a:t>
            </a:r>
          </a:p>
          <a:p xmlns:a="http://schemas.openxmlformats.org/drawingml/2006/main">
            <a:pPr marL="0" indent="0">
              <a:lnSpc>
                <a:spcPct val="114000"/>
              </a:lnSpc>
              <a:spcBef>
                <a:spcPts val="0"/>
              </a:spcBef>
              <a:spcAft>
                <a:spcPts val="800"/>
              </a:spcAft>
              <a:buNone/>
            </a:pPr>
            <a:r>
              <a:rPr sz="1600"/>
              <a:t>Apply live country routing, sticky and rotation controls, and proxy health dashboards.</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t>Harden Daraz</a:t>
            </a:r>
          </a:p>
          <a:p xmlns:a="http://schemas.openxmlformats.org/drawingml/2006/main">
            <a:pPr marL="0" indent="0">
              <a:lnSpc>
                <a:spcPct val="114000"/>
              </a:lnSpc>
              <a:spcBef>
                <a:spcPts val="0"/>
              </a:spcBef>
              <a:spcAft>
                <a:spcPts val="800"/>
              </a:spcAft>
              <a:buNone/>
            </a:pPr>
            <a:r>
              <a:rPr sz="1600"/>
              <a:t>Improve extraction coverage, product matching, blocked-state handling, and evidence review.</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t>Expand by adapter</a:t>
            </a:r>
          </a:p>
          <a:p xmlns:a="http://schemas.openxmlformats.org/drawingml/2006/main">
            <a:pPr marL="0" indent="0">
              <a:lnSpc>
                <a:spcPct val="114000"/>
              </a:lnSpc>
              <a:spcBef>
                <a:spcPts val="0"/>
              </a:spcBef>
              <a:spcAft>
                <a:spcPts val="800"/>
              </a:spcAft>
              <a:buNone/>
            </a:pPr>
            <a:r>
              <a:rPr sz="1600"/>
              <a:t>Recruit 2-3 sellers or commerce teams and add the next checkout adapter from pilot needs.</a:t>
            </a:r>
          </a:p>
        </p:txBody>
      </p:sp>
    </p:spTree>
    <p:extLst>
      <p:ext uri="{BB962C8B-B14F-4D97-AF65-F5344CB8AC3E}">
        <p14:creationId xmlns:p14="http://schemas.microsoft.com/office/powerpoint/2010/main" val="34463389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1F94652D-58EE-6496-27FC-88868633C24A}"/>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CartTruth</a:t>
            </a:r>
          </a:p>
          <a:p xmlns:a="http://schemas.openxmlformats.org/drawingml/2006/main">
            <a:pPr algn="ctr">
              <a:buNone/>
            </a:pPr>
            <a:r>
              <a:rPr sz="7200">
                <a:solidFill>
                  <a:srgbClr val="BCEF59"/>
                </a:solidFill>
              </a:rPr>
              <a:t>Pilot Ask</a:t>
            </a:r>
          </a:p>
        </p:txBody>
      </p:sp>
      <p:sp>
        <p:nvSpPr>
          <p:cNvPr id="6" name="Subtitle 4">
            <a:extLst xmlns:a="http://schemas.openxmlformats.org/drawingml/2006/main">
              <a:ext uri="{FF2B5EF4-FFF2-40B4-BE49-F238E27FC236}">
                <a16:creationId xmlns:a16="http://schemas.microsoft.com/office/drawing/2014/main" id="{7A15B0DD-3ED8-37CA-9675-F348EABF4C6C}"/>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Help us validate final-checkout verification with real Daraz users who check prices manually today.</a:t>
            </a:r>
          </a:p>
        </p:txBody>
      </p:sp>
      <p:sp>
        <p:nvSpPr>
          <p:cNvPr id="3" name="Rounded Rectangle 2">
            <a:extLst xmlns:a="http://schemas.openxmlformats.org/drawingml/2006/main">
              <a:ext uri="{FF2B5EF4-FFF2-40B4-BE49-F238E27FC236}">
                <a16:creationId xmlns:a16="http://schemas.microsoft.com/office/drawing/2014/main" id="{64FF5F30-1F7D-7291-7074-4D9972C874C3}"/>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July 2026</a:t>
            </a:r>
          </a:p>
        </p:txBody>
      </p:sp>
    </p:spTree>
    <p:extLst>
      <p:ext uri="{BB962C8B-B14F-4D97-AF65-F5344CB8AC3E}">
        <p14:creationId xmlns:p14="http://schemas.microsoft.com/office/powerpoint/2010/main" val="2385373601"/>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2026-07-12T05:45:23.2940000Z</dcterms:created>
  <dcterms:modified xsi:type="dcterms:W3CDTF">2026-07-12T05:45:23.2940000Z</dcterms:modified>
</coreProperties>
</file>